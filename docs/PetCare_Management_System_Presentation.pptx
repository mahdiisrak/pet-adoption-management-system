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TCARE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D8D2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6539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10" kern="0" dirty="0">
                <a:solidFill>
                  <a:srgbClr val="6B74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PETCARE  /  ORACLE + EXPRESS + REACT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040880" y="-1051560"/>
            <a:ext cx="6217920" cy="6217920"/>
          </a:xfrm>
          <a:prstGeom prst="arc">
            <a:avLst/>
          </a:prstGeom>
          <a:solidFill>
            <a:srgbClr val="0F6B5D">
              <a:alpha val="85000"/>
            </a:srgbClr>
          </a:solidFill>
          <a:ln w="12700">
            <a:solidFill>
              <a:srgbClr val="0F6B5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914400"/>
            <a:ext cx="2468880" cy="2468880"/>
          </a:xfrm>
          <a:prstGeom prst="ellipse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42248" y="1408176"/>
            <a:ext cx="438912" cy="438912"/>
          </a:xfrm>
          <a:prstGeom prst="ellipse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0" y="1408176"/>
            <a:ext cx="438912" cy="438912"/>
          </a:xfrm>
          <a:prstGeom prst="ellipse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08592" y="1847088"/>
            <a:ext cx="594360" cy="530352"/>
          </a:xfrm>
          <a:prstGeom prst="ellipse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594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PETCARE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2344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DE6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pet adoption workflow powered by Oracle, Express.js and React.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43484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4453128"/>
            <a:ext cx="1453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2A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DATABASE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487168" y="443484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4453128"/>
            <a:ext cx="1179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2A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EXPRESS.JS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3968496" y="443484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41648" y="4453128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2A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VITE</a:t>
            </a:r>
            <a:endParaRPr lang="en-US" sz="83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97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C3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by: [Your Name]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561320" y="5897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9C3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PRODUCT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rescue report to forever home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connected system coordinates people, pets, care, finance and adoption.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691640"/>
            <a:ext cx="2029968" cy="91440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764792"/>
            <a:ext cx="1847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15768" y="193852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71216" y="1691640"/>
            <a:ext cx="2029968" cy="91440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62656" y="1764792"/>
            <a:ext cx="1847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28616" y="193852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1691640"/>
            <a:ext cx="2029968" cy="91440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764792"/>
            <a:ext cx="1847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41464" y="193852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96912" y="1691640"/>
            <a:ext cx="2029968" cy="91440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88352" y="1764792"/>
            <a:ext cx="1847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354312" y="193852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0" y="1691640"/>
            <a:ext cx="2029968" cy="914400"/>
          </a:xfrm>
          <a:prstGeom prst="roundRect">
            <a:avLst>
              <a:gd name="adj" fmla="val 5000"/>
            </a:avLst>
          </a:prstGeom>
          <a:solidFill>
            <a:srgbClr val="0F6B5D"/>
          </a:solidFill>
          <a:ln w="10160">
            <a:solidFill>
              <a:srgbClr val="0F6B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0" y="1764792"/>
            <a:ext cx="18470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2971800"/>
            <a:ext cx="3401568" cy="2240280"/>
          </a:xfrm>
          <a:prstGeom prst="roundRect">
            <a:avLst>
              <a:gd name="adj" fmla="val 2041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77824" y="313639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workflow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" y="3593592"/>
            <a:ext cx="296265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every handoff from volunteer rescue reporting through shelter intake, health care, review and final adoption.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4379976" y="2971800"/>
            <a:ext cx="3401568" cy="2240280"/>
          </a:xfrm>
          <a:prstGeom prst="roundRect">
            <a:avLst>
              <a:gd name="adj" fmla="val 2041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599432" y="313639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access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99432" y="3593592"/>
            <a:ext cx="296265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multiple approved roles per person while enforcing authorization at protected backend routes.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101584" y="2971800"/>
            <a:ext cx="3401568" cy="2240280"/>
          </a:xfrm>
          <a:prstGeom prst="roundRect">
            <a:avLst>
              <a:gd name="adj" fmla="val 2041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21040" y="3136392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in action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3593592"/>
            <a:ext cx="296265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Exposes Oracle joins, views, CTEs, subqueries and PL/SQL through practical frontend features.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ARCHITECTURE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three-tier application stack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user action travels through a secured API into Oracle business logic.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2926080" cy="2331720"/>
          </a:xfrm>
          <a:prstGeom prst="roundRect">
            <a:avLst>
              <a:gd name="adj" fmla="val 1961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77824" y="190195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Vite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359152"/>
            <a:ext cx="2487168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interface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components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Role-specific modules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617720" y="1737360"/>
            <a:ext cx="2926080" cy="2331720"/>
          </a:xfrm>
          <a:prstGeom prst="roundRect">
            <a:avLst>
              <a:gd name="adj" fmla="val 1961"/>
            </a:avLst>
          </a:prstGeom>
          <a:solidFill>
            <a:srgbClr val="F8DDD4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37176" y="190195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37176" y="2359152"/>
            <a:ext cx="2487168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controllers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authorization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handling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8577072" y="1737360"/>
            <a:ext cx="2926080" cy="2331720"/>
          </a:xfrm>
          <a:prstGeom prst="roundRect">
            <a:avLst>
              <a:gd name="adj" fmla="val 1961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796528" y="190195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796528" y="2359152"/>
            <a:ext cx="2487168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schema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and PL/SQL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Triggers and sequences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822192" y="2578608"/>
            <a:ext cx="530352" cy="43891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81544" y="2578608"/>
            <a:ext cx="530352" cy="43891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782312"/>
            <a:ext cx="256032" cy="0"/>
          </a:xfrm>
          <a:prstGeom prst="line">
            <a:avLst/>
          </a:prstGeom>
          <a:noFill/>
          <a:ln w="27940">
            <a:solidFill>
              <a:srgbClr val="0F6B5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272" y="4681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SERVICES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3232" y="5056632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5074920"/>
            <a:ext cx="859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1865376" y="5056632"/>
            <a:ext cx="1143000" cy="310896"/>
          </a:xfrm>
          <a:prstGeom prst="roundRect">
            <a:avLst>
              <a:gd name="adj" fmla="val 1764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38528" y="5074920"/>
            <a:ext cx="9966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BCRYPT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3154680" y="5056632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27832" y="5074920"/>
            <a:ext cx="15910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6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frontend/src/App.jsx   |   backend/src/app.js   |   backend/src/db.js   |   database/01_schema.sql   |   docker-compose.yml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ACCESS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person, multiple approved roles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identifies the user; authorization controls each action.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892040" y="1965960"/>
            <a:ext cx="2331720" cy="2331720"/>
          </a:xfrm>
          <a:prstGeom prst="ellipse">
            <a:avLst/>
          </a:prstGeom>
          <a:solidFill>
            <a:srgbClr val="0B2A25"/>
          </a:solidFill>
          <a:ln w="12700">
            <a:solidFill>
              <a:srgbClr val="0B2A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30368" y="2633472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394460" y="1938528"/>
            <a:ext cx="3680460" cy="118872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7830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1801368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1440180" y="3035808"/>
            <a:ext cx="3634740" cy="9144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88036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2898648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6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 flipV="1">
            <a:off x="1851660" y="3127248"/>
            <a:ext cx="3223260" cy="1033272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4440" y="4005072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07592" y="4023360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 flipV="1">
            <a:off x="3909060" y="3127248"/>
            <a:ext cx="1165860" cy="182880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480060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64992" y="4818888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 flipH="1">
            <a:off x="7040880" y="3127248"/>
            <a:ext cx="1440180" cy="182880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26680" y="480060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99832" y="4818888"/>
            <a:ext cx="1362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VOLUNTEER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 flipH="1">
            <a:off x="7040880" y="3127248"/>
            <a:ext cx="3086100" cy="1033272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0" y="4005072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82912" y="4023360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6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ADOPTER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7040880" y="3035808"/>
            <a:ext cx="3863340" cy="9144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87000" y="288036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60152" y="2898648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DONOR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 flipH="1" flipV="1">
            <a:off x="7040880" y="1938528"/>
            <a:ext cx="3497580" cy="1188720"/>
          </a:xfrm>
          <a:prstGeom prst="line">
            <a:avLst/>
          </a:prstGeom>
          <a:noFill/>
          <a:ln w="12700">
            <a:solidFill>
              <a:srgbClr val="D8D2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21240" y="17830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94392" y="1801368"/>
            <a:ext cx="10881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middleware/auth.js   |   authController.js   |   roleApplicationController.js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SCOPE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Fifteen modules, one operational view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interface groups daily work into four clear domains.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468880" cy="4160520"/>
          </a:xfrm>
          <a:prstGeom prst="roundRect">
            <a:avLst>
              <a:gd name="adj" fmla="val 1852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77824" y="182880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286000"/>
            <a:ext cx="2029968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Directory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Accounts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Employment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38144" y="1664208"/>
            <a:ext cx="2468880" cy="4160520"/>
          </a:xfrm>
          <a:prstGeom prst="roundRect">
            <a:avLst>
              <a:gd name="adj" fmla="val 1852"/>
            </a:avLst>
          </a:prstGeom>
          <a:solidFill>
            <a:srgbClr val="F8DDD4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7600" y="182880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 JOURNEY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286000"/>
            <a:ext cx="2029968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Shelter Management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 Directory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 Reports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 Intake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64208"/>
            <a:ext cx="2468880" cy="4160520"/>
          </a:xfrm>
          <a:prstGeom prst="roundRect">
            <a:avLst>
              <a:gd name="adj" fmla="val 1852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37376" y="182880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+ ADOPTION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2286000"/>
            <a:ext cx="2029968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 and Review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Records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 + Vaccination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97696" y="1664208"/>
            <a:ext cx="2468880" cy="4160520"/>
          </a:xfrm>
          <a:prstGeom prst="roundRect">
            <a:avLst>
              <a:gd name="adj" fmla="val 1852"/>
            </a:avLst>
          </a:prstGeom>
          <a:solidFill>
            <a:srgbClr val="E8E8F3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17152" y="182880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+ INSIGHT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286000"/>
            <a:ext cx="2029968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+ Payroll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Activity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PetCare Insights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PetCare Tools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6062472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6071616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frontend/src/App.jsx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DATA MODEL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schema: six business domains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tables are organized around identity, pets, rescue, adoption, care and finance.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3383280" cy="1828800"/>
          </a:xfrm>
          <a:prstGeom prst="roundRect">
            <a:avLst>
              <a:gd name="adj" fmla="val 250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79222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249424"/>
            <a:ext cx="2944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SYSTEM_USER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SYSTEM_USER_ROLE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ROLE_APPLICATION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4361688" y="1627632"/>
            <a:ext cx="3383280" cy="1828800"/>
          </a:xfrm>
          <a:prstGeom prst="roundRect">
            <a:avLst>
              <a:gd name="adj" fmla="val 250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179222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249424"/>
            <a:ext cx="2944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LOCAL_PET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GUEST_PET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SHELTER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8065008" y="1627632"/>
            <a:ext cx="3383280" cy="1828800"/>
          </a:xfrm>
          <a:prstGeom prst="roundRect">
            <a:avLst>
              <a:gd name="adj" fmla="val 250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179222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2249424"/>
            <a:ext cx="2944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RESCUE_PET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PET_SHELTER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58368" y="3776472"/>
            <a:ext cx="3383280" cy="1828800"/>
          </a:xfrm>
          <a:prstGeom prst="roundRect">
            <a:avLst>
              <a:gd name="adj" fmla="val 2500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" y="394106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4398264"/>
            <a:ext cx="2944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ADOPTION_PROCESS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ADOPTION_MANAGEMENT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361688" y="3776472"/>
            <a:ext cx="3383280" cy="1828800"/>
          </a:xfrm>
          <a:prstGeom prst="roundRect">
            <a:avLst>
              <a:gd name="adj" fmla="val 2500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81144" y="394106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4398264"/>
            <a:ext cx="2944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MEDICAL_RECORD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MEDICINE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VACCINATION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8065008" y="3776472"/>
            <a:ext cx="3383280" cy="1828800"/>
          </a:xfrm>
          <a:prstGeom prst="roundRect">
            <a:avLst>
              <a:gd name="adj" fmla="val 2500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84464" y="394106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84464" y="4398264"/>
            <a:ext cx="294436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SALARY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AUDIT_LOG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database/01_schema.sql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RELATIONSHIPS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relational backbone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identifiers keep ownership, care and adoption history connected.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 flipV="1">
            <a:off x="1463040" y="1956816"/>
            <a:ext cx="2194560" cy="713232"/>
          </a:xfrm>
          <a:prstGeom prst="line">
            <a:avLst/>
          </a:prstGeom>
          <a:noFill/>
          <a:ln w="20320">
            <a:solidFill>
              <a:srgbClr val="E86F5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463040" y="2670048"/>
            <a:ext cx="2194560" cy="713232"/>
          </a:xfrm>
          <a:prstGeom prst="line">
            <a:avLst/>
          </a:prstGeom>
          <a:noFill/>
          <a:ln w="20320">
            <a:solidFill>
              <a:srgbClr val="E86F5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3657600" y="2670048"/>
            <a:ext cx="2286000" cy="713232"/>
          </a:xfrm>
          <a:prstGeom prst="line">
            <a:avLst/>
          </a:prstGeom>
          <a:noFill/>
          <a:ln w="20320">
            <a:solidFill>
              <a:srgbClr val="E86F5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5943600" y="1956816"/>
            <a:ext cx="2286000" cy="713232"/>
          </a:xfrm>
          <a:prstGeom prst="line">
            <a:avLst/>
          </a:prstGeom>
          <a:noFill/>
          <a:ln w="20320">
            <a:solidFill>
              <a:srgbClr val="E86F5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0" y="2670048"/>
            <a:ext cx="2286000" cy="713232"/>
          </a:xfrm>
          <a:prstGeom prst="line">
            <a:avLst/>
          </a:prstGeom>
          <a:noFill/>
          <a:ln w="20320">
            <a:solidFill>
              <a:srgbClr val="E86F5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0" y="2670048"/>
            <a:ext cx="4526280" cy="0"/>
          </a:xfrm>
          <a:prstGeom prst="line">
            <a:avLst/>
          </a:prstGeom>
          <a:noFill/>
          <a:ln w="20320">
            <a:solidFill>
              <a:srgbClr val="E86F5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63040" y="2670048"/>
            <a:ext cx="9006840" cy="0"/>
          </a:xfrm>
          <a:prstGeom prst="line">
            <a:avLst/>
          </a:prstGeom>
          <a:noFill/>
          <a:ln w="20320">
            <a:solidFill>
              <a:srgbClr val="E86F5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286000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E4F1EB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37744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1572768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7EAC7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07792" y="166420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2999232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8DDD4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07792" y="309067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2286000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0B2A25"/>
          </a:solidFill>
          <a:ln w="12700">
            <a:solidFill>
              <a:srgbClr val="0B2A2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93792" y="237744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1572768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7EAC7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79792" y="1664208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2999232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E4F1EB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79792" y="3090672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46920" y="2286000"/>
            <a:ext cx="1645920" cy="749808"/>
          </a:xfrm>
          <a:prstGeom prst="roundRect">
            <a:avLst>
              <a:gd name="adj" fmla="val 4878"/>
            </a:avLst>
          </a:prstGeom>
          <a:solidFill>
            <a:srgbClr val="F8DDD4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0072" y="237744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4617720"/>
            <a:ext cx="10241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pets can enter adoption; guest pets retain owner records.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Supervisors review; active employees complete approved cases.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Health, salary and finance data remain role-protected.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SYSTEM_USER_ROLE | LOCAL_PET | GUEST_PET | RESCUE_PET | PET_SHELTER | ADOPTION_PROCESS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SEARCH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frontend search backed by Oracle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interaction pattern powers four operational directories.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682496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6510">
            <a:solidFill>
              <a:srgbClr val="0F6B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56232"/>
            <a:ext cx="256032" cy="256032"/>
          </a:xfrm>
          <a:prstGeom prst="ellipse">
            <a:avLst/>
          </a:prstGeom>
          <a:solidFill>
            <a:srgbClr val="F7F3EA">
              <a:alpha val="0"/>
            </a:srgbClr>
          </a:solidFill>
          <a:ln w="20320">
            <a:solidFill>
              <a:srgbClr val="0F6B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2057400"/>
            <a:ext cx="146304" cy="146304"/>
          </a:xfrm>
          <a:prstGeom prst="line">
            <a:avLst/>
          </a:prstGeom>
          <a:noFill/>
          <a:ln w="20320">
            <a:solidFill>
              <a:srgbClr val="0F6B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44752" y="18105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791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pets, people or activity...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2788920"/>
            <a:ext cx="2011680" cy="786384"/>
          </a:xfrm>
          <a:prstGeom prst="roundRect">
            <a:avLst>
              <a:gd name="adj" fmla="val 5814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8620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752344" y="30358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788920"/>
            <a:ext cx="2011680" cy="786384"/>
          </a:xfrm>
          <a:prstGeom prst="roundRect">
            <a:avLst>
              <a:gd name="adj" fmla="val 5814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99232" y="28620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?search=...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946904" y="30358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02352" y="2788920"/>
            <a:ext cx="2011680" cy="786384"/>
          </a:xfrm>
          <a:prstGeom prst="roundRect">
            <a:avLst>
              <a:gd name="adj" fmla="val 5814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93792" y="28620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141464" y="30358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2788920"/>
            <a:ext cx="2011680" cy="786384"/>
          </a:xfrm>
          <a:prstGeom prst="roundRect">
            <a:avLst>
              <a:gd name="adj" fmla="val 5814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8352" y="28620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 QUERY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9336024" y="30358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1472" y="2788920"/>
            <a:ext cx="2011680" cy="786384"/>
          </a:xfrm>
          <a:prstGeom prst="roundRect">
            <a:avLst>
              <a:gd name="adj" fmla="val 5814"/>
            </a:avLst>
          </a:prstGeom>
          <a:solidFill>
            <a:srgbClr val="0F6B5D"/>
          </a:solidFill>
          <a:ln w="10160">
            <a:solidFill>
              <a:srgbClr val="0F6B5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82912" y="28620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749808" y="4160520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178808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Directory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447288" y="4160520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0440" y="4178808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 Directory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6144768" y="4160520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4178808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 Owners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8842248" y="4160520"/>
            <a:ext cx="2331720" cy="310896"/>
          </a:xfrm>
          <a:prstGeom prst="roundRect">
            <a:avLst>
              <a:gd name="adj" fmla="val 1764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915400" y="4178808"/>
            <a:ext cx="2185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Activity</a:t>
            </a:r>
            <a:endParaRPr lang="en-US" sz="83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4892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bind variables keep search flexible and injection-resistant.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frontend/src/components.jsx | peopleController.js | petController.js | auditController.js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TRANSACTIONS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operations create real records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form maps to a controlled backend transaction.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3383280" cy="1033272"/>
          </a:xfrm>
          <a:prstGeom prst="roundRect">
            <a:avLst>
              <a:gd name="adj" fmla="val 4425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737360"/>
            <a:ext cx="347472" cy="347472"/>
          </a:xfrm>
          <a:prstGeom prst="ellipse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174650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 + staff</a:t>
            </a:r>
            <a:endParaRPr lang="en-US" sz="1120" dirty="0"/>
          </a:p>
        </p:txBody>
      </p:sp>
      <p:sp>
        <p:nvSpPr>
          <p:cNvPr id="9" name="Text 7"/>
          <p:cNvSpPr txBox="1"/>
          <p:nvPr/>
        </p:nvSpPr>
        <p:spPr>
          <a:xfrm>
            <a:off x="905256" y="2194560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 &gt;  INSERT  &gt;  COMMIT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4389120" y="1572768"/>
            <a:ext cx="3383280" cy="1033272"/>
          </a:xfrm>
          <a:prstGeom prst="roundRect">
            <a:avLst>
              <a:gd name="adj" fmla="val 4425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37360"/>
            <a:ext cx="347472" cy="347472"/>
          </a:xfrm>
          <a:prstGeom prst="ellipse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53712" y="174650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 account</a:t>
            </a:r>
            <a:endParaRPr lang="en-US" sz="1120" dirty="0"/>
          </a:p>
        </p:txBody>
      </p:sp>
      <p:sp>
        <p:nvSpPr>
          <p:cNvPr id="14" name="Text 12"/>
          <p:cNvSpPr txBox="1"/>
          <p:nvPr/>
        </p:nvSpPr>
        <p:spPr>
          <a:xfrm>
            <a:off x="4608576" y="2194560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 &gt;  INSERT  &gt;  COMMIT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8092440" y="1572768"/>
            <a:ext cx="3383280" cy="1033272"/>
          </a:xfrm>
          <a:prstGeom prst="roundRect">
            <a:avLst>
              <a:gd name="adj" fmla="val 4425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7032" y="1737360"/>
            <a:ext cx="347472" cy="347472"/>
          </a:xfrm>
          <a:prstGeom prst="ellipse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57032" y="174650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/ guest pet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2194560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 &gt;  INSERT  &gt;  COMMIT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85800" y="2871216"/>
            <a:ext cx="3383280" cy="1033272"/>
          </a:xfrm>
          <a:prstGeom prst="roundRect">
            <a:avLst>
              <a:gd name="adj" fmla="val 4425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" y="3035808"/>
            <a:ext cx="347472" cy="347472"/>
          </a:xfrm>
          <a:prstGeom prst="ellipse">
            <a:avLst/>
          </a:prstGeom>
          <a:solidFill>
            <a:srgbClr val="E8B44B"/>
          </a:solidFill>
          <a:ln w="12700">
            <a:solidFill>
              <a:srgbClr val="E8B44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0392" y="30449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 report</a:t>
            </a:r>
            <a:endParaRPr lang="en-US" sz="1120" dirty="0"/>
          </a:p>
        </p:txBody>
      </p:sp>
      <p:sp>
        <p:nvSpPr>
          <p:cNvPr id="24" name="Text 22"/>
          <p:cNvSpPr txBox="1"/>
          <p:nvPr/>
        </p:nvSpPr>
        <p:spPr>
          <a:xfrm>
            <a:off x="905256" y="3493008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 &gt;  INSERT  &gt;  COMMIT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4389120" y="2871216"/>
            <a:ext cx="3383280" cy="1033272"/>
          </a:xfrm>
          <a:prstGeom prst="roundRect">
            <a:avLst>
              <a:gd name="adj" fmla="val 4425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53712" y="3035808"/>
            <a:ext cx="347472" cy="347472"/>
          </a:xfrm>
          <a:prstGeom prst="ellipse">
            <a:avLst/>
          </a:prstGeom>
          <a:solidFill>
            <a:srgbClr val="E8B44B"/>
          </a:solidFill>
          <a:ln w="12700">
            <a:solidFill>
              <a:srgbClr val="E8B4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53712" y="30449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Shelter intake</a:t>
            </a:r>
            <a:endParaRPr lang="en-US" sz="1120" dirty="0"/>
          </a:p>
        </p:txBody>
      </p:sp>
      <p:sp>
        <p:nvSpPr>
          <p:cNvPr id="29" name="Text 27"/>
          <p:cNvSpPr txBox="1"/>
          <p:nvPr/>
        </p:nvSpPr>
        <p:spPr>
          <a:xfrm>
            <a:off x="4608576" y="3493008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 &gt;  INSERT  &gt;  COMMIT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8092440" y="2871216"/>
            <a:ext cx="3383280" cy="1033272"/>
          </a:xfrm>
          <a:prstGeom prst="roundRect">
            <a:avLst>
              <a:gd name="adj" fmla="val 4425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57032" y="3035808"/>
            <a:ext cx="347472" cy="347472"/>
          </a:xfrm>
          <a:prstGeom prst="ellipse">
            <a:avLst/>
          </a:prstGeom>
          <a:solidFill>
            <a:srgbClr val="E8B44B"/>
          </a:solidFill>
          <a:ln w="12700">
            <a:solidFill>
              <a:srgbClr val="E8B44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57032" y="304495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3035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request</a:t>
            </a:r>
            <a:endParaRPr lang="en-US" sz="1120" dirty="0"/>
          </a:p>
        </p:txBody>
      </p:sp>
      <p:sp>
        <p:nvSpPr>
          <p:cNvPr id="34" name="Text 32"/>
          <p:cNvSpPr txBox="1"/>
          <p:nvPr/>
        </p:nvSpPr>
        <p:spPr>
          <a:xfrm>
            <a:off x="8311896" y="3493008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 &gt;  INSERT  &gt;  COMMIT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685800" y="4169664"/>
            <a:ext cx="3383280" cy="1033272"/>
          </a:xfrm>
          <a:prstGeom prst="roundRect">
            <a:avLst>
              <a:gd name="adj" fmla="val 4425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" y="4334256"/>
            <a:ext cx="347472" cy="347472"/>
          </a:xfrm>
          <a:prstGeom prst="ellipse">
            <a:avLst/>
          </a:prstGeom>
          <a:solidFill>
            <a:srgbClr val="0F6B5D"/>
          </a:solidFill>
          <a:ln w="12700">
            <a:solidFill>
              <a:srgbClr val="0F6B5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50392" y="434340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325880" y="4334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record</a:t>
            </a:r>
            <a:endParaRPr lang="en-US" sz="1120" dirty="0"/>
          </a:p>
        </p:txBody>
      </p:sp>
      <p:sp>
        <p:nvSpPr>
          <p:cNvPr id="39" name="Text 37"/>
          <p:cNvSpPr txBox="1"/>
          <p:nvPr/>
        </p:nvSpPr>
        <p:spPr>
          <a:xfrm>
            <a:off x="905256" y="4791456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 &gt;  INSERT  &gt;  COMMIT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4389120" y="4169664"/>
            <a:ext cx="3383280" cy="1033272"/>
          </a:xfrm>
          <a:prstGeom prst="roundRect">
            <a:avLst>
              <a:gd name="adj" fmla="val 4425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53712" y="4334256"/>
            <a:ext cx="347472" cy="347472"/>
          </a:xfrm>
          <a:prstGeom prst="ellipse">
            <a:avLst/>
          </a:prstGeom>
          <a:solidFill>
            <a:srgbClr val="0F6B5D"/>
          </a:solidFill>
          <a:ln w="12700">
            <a:solidFill>
              <a:srgbClr val="0F6B5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53712" y="434340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0" y="4334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Donation</a:t>
            </a:r>
            <a:endParaRPr lang="en-US" sz="1120" dirty="0"/>
          </a:p>
        </p:txBody>
      </p:sp>
      <p:sp>
        <p:nvSpPr>
          <p:cNvPr id="44" name="Text 42"/>
          <p:cNvSpPr txBox="1"/>
          <p:nvPr/>
        </p:nvSpPr>
        <p:spPr>
          <a:xfrm>
            <a:off x="4608576" y="4791456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 &gt;  INSERT  &gt;  COMMIT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8092440" y="4169664"/>
            <a:ext cx="3383280" cy="1033272"/>
          </a:xfrm>
          <a:prstGeom prst="roundRect">
            <a:avLst>
              <a:gd name="adj" fmla="val 4425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57032" y="4334256"/>
            <a:ext cx="347472" cy="347472"/>
          </a:xfrm>
          <a:prstGeom prst="ellipse">
            <a:avLst/>
          </a:prstGeom>
          <a:solidFill>
            <a:srgbClr val="0F6B5D"/>
          </a:solidFill>
          <a:ln w="12700">
            <a:solidFill>
              <a:srgbClr val="0F6B5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57032" y="434340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8732520" y="4334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Salary record</a:t>
            </a:r>
            <a:endParaRPr lang="en-US" sz="1120" dirty="0"/>
          </a:p>
        </p:txBody>
      </p:sp>
      <p:sp>
        <p:nvSpPr>
          <p:cNvPr id="49" name="Text 47"/>
          <p:cNvSpPr txBox="1"/>
          <p:nvPr/>
        </p:nvSpPr>
        <p:spPr>
          <a:xfrm>
            <a:off x="8311896" y="4791456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 &gt;  INSERT  &gt;  COMMIT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 | user | pet | rescue | adoption | medical | finance | salary controllers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QUERIES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Joins turn normalized data into useful views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controllers and database views assemble the records each page needs.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66420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82496"/>
            <a:ext cx="1179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830" dirty="0"/>
          </a:p>
        </p:txBody>
      </p:sp>
      <p:sp>
        <p:nvSpPr>
          <p:cNvPr id="7" name="Text 5"/>
          <p:cNvSpPr txBox="1"/>
          <p:nvPr/>
        </p:nvSpPr>
        <p:spPr>
          <a:xfrm>
            <a:off x="2212848" y="166420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70048" y="166420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682496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6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749808" y="2651760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670048"/>
            <a:ext cx="1179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</a:t>
            </a:r>
            <a:endParaRPr lang="en-US" sz="83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265176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70048" y="265176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2670048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6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SHELTER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749808" y="363931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657600"/>
            <a:ext cx="1179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830" dirty="0"/>
          </a:p>
        </p:txBody>
      </p:sp>
      <p:sp>
        <p:nvSpPr>
          <p:cNvPr id="17" name="Text 15"/>
          <p:cNvSpPr txBox="1"/>
          <p:nvPr/>
        </p:nvSpPr>
        <p:spPr>
          <a:xfrm>
            <a:off x="2212848" y="363931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670048" y="363931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3657600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6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49808" y="4626864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645152"/>
            <a:ext cx="1179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</a:t>
            </a:r>
            <a:endParaRPr lang="en-US" sz="830" dirty="0"/>
          </a:p>
        </p:txBody>
      </p:sp>
      <p:sp>
        <p:nvSpPr>
          <p:cNvPr id="22" name="Text 20"/>
          <p:cNvSpPr txBox="1"/>
          <p:nvPr/>
        </p:nvSpPr>
        <p:spPr>
          <a:xfrm>
            <a:off x="2212848" y="462686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670048" y="4626864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3200" y="4645152"/>
            <a:ext cx="1271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6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4407408" y="2852928"/>
            <a:ext cx="658368" cy="53035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94960" y="1572768"/>
            <a:ext cx="5989320" cy="4114800"/>
          </a:xfrm>
          <a:prstGeom prst="roundRect">
            <a:avLst>
              <a:gd name="adj" fmla="val 1111"/>
            </a:avLst>
          </a:prstGeom>
          <a:solidFill>
            <a:srgbClr val="0B2A25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614416" y="1737360"/>
            <a:ext cx="5586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join views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614416" y="2194560"/>
            <a:ext cx="5550408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VW_PERSON_ROLES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VW_PET_DETAILS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VW_RESCUE_DETAILS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VW_ADOPTION_APPLICATIONS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VW_MEDICAL_DETAILS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VW_SALARY_DETAILS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VW_DASHBOARD_STATS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database/03_views.sql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AUTOMATION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Sequences create clean, human-readable IDs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Database-generated identifiers avoid collisions and keep records presentation-friendly.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04088" y="1755648"/>
            <a:ext cx="2450592" cy="1463040"/>
          </a:xfrm>
          <a:prstGeom prst="roundRect">
            <a:avLst>
              <a:gd name="adj" fmla="val 3125"/>
            </a:avLst>
          </a:prstGeom>
          <a:solidFill>
            <a:srgbClr val="E4F1EB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568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B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P###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74720" y="1755648"/>
            <a:ext cx="2450592" cy="1463040"/>
          </a:xfrm>
          <a:prstGeom prst="roundRect">
            <a:avLst>
              <a:gd name="adj" fmla="val 3125"/>
            </a:avLst>
          </a:prstGeom>
          <a:solidFill>
            <a:srgbClr val="E4F1EB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19568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B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U###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45352" y="1755648"/>
            <a:ext cx="2450592" cy="1463040"/>
          </a:xfrm>
          <a:prstGeom prst="roundRect">
            <a:avLst>
              <a:gd name="adj" fmla="val 3125"/>
            </a:avLst>
          </a:prstGeom>
          <a:solidFill>
            <a:srgbClr val="E4F1EB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9944" y="19568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B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LP###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15984" y="1755648"/>
            <a:ext cx="2450592" cy="1463040"/>
          </a:xfrm>
          <a:prstGeom prst="roundRect">
            <a:avLst>
              <a:gd name="adj" fmla="val 3125"/>
            </a:avLst>
          </a:prstGeom>
          <a:solidFill>
            <a:srgbClr val="E4F1EB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0576" y="19568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B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GP###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9180576" y="25968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GUEST PET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04088" y="3630168"/>
            <a:ext cx="2450592" cy="1463040"/>
          </a:xfrm>
          <a:prstGeom prst="roundRect">
            <a:avLst>
              <a:gd name="adj" fmla="val 3125"/>
            </a:avLst>
          </a:prstGeom>
          <a:solidFill>
            <a:srgbClr val="F7EAC7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8313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R###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471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0" y="3630168"/>
            <a:ext cx="2450592" cy="1463040"/>
          </a:xfrm>
          <a:prstGeom prst="roundRect">
            <a:avLst>
              <a:gd name="adj" fmla="val 3125"/>
            </a:avLst>
          </a:prstGeom>
          <a:solidFill>
            <a:srgbClr val="F7EAC7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39312" y="38313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AD###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639312" y="4471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45352" y="3630168"/>
            <a:ext cx="2450592" cy="1463040"/>
          </a:xfrm>
          <a:prstGeom prst="roundRect">
            <a:avLst>
              <a:gd name="adj" fmla="val 3125"/>
            </a:avLst>
          </a:prstGeom>
          <a:solidFill>
            <a:srgbClr val="F7EAC7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9944" y="38313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MR###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409944" y="4471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015984" y="3630168"/>
            <a:ext cx="2450592" cy="1463040"/>
          </a:xfrm>
          <a:prstGeom prst="roundRect">
            <a:avLst>
              <a:gd name="adj" fmla="val 3125"/>
            </a:avLst>
          </a:prstGeom>
          <a:solidFill>
            <a:srgbClr val="F7EAC7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383133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4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AU###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44714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database/01_schema.sql | 22_rescue_intake_workflow.sql | 24_identity_auto_id_triggers.sql | 25_pet_adoption_audit_id_cleanup.sql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AUTOMATION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Triggers enforce rules at the data boundary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actions stay consistent regardless of which frontend path writes the row.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05256" y="1828800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2286000"/>
            <a:ext cx="47731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Person, user, pet, medical, adoption and audit IDs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17920" y="1664208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8DDD4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37376" y="1828800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37376" y="2286000"/>
            <a:ext cx="47731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adoption status changes in the audit trail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85800" y="3630168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05256" y="3794760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4251960"/>
            <a:ext cx="47731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salary payee role before recording payroll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17920" y="3630168"/>
            <a:ext cx="5212080" cy="1600200"/>
          </a:xfrm>
          <a:prstGeom prst="roundRect">
            <a:avLst>
              <a:gd name="adj" fmla="val 2857"/>
            </a:avLst>
          </a:prstGeom>
          <a:solidFill>
            <a:srgbClr val="E8E8F3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37376" y="3794760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4251960"/>
            <a:ext cx="47731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invalid owner role applications</a:t>
            </a:r>
            <a:endParaRPr lang="en-US" sz="112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5440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/ UPDATE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69280" y="5431536"/>
            <a:ext cx="438912" cy="274320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5440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78040" y="5431536"/>
            <a:ext cx="438912" cy="274320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80960" y="5440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ROW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database/01_schema.sql | 24_identity_auto_id_triggers.sql | 25_pet_adoption_audit_id_cleanup.sql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WORKFLOW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 report becomes an adoptable pet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intake process coordinates volunteer, shelter and database records.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1410789" cy="1078992"/>
          </a:xfrm>
          <a:prstGeom prst="roundRect">
            <a:avLst>
              <a:gd name="adj" fmla="val 4237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947672"/>
            <a:ext cx="122790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60013" y="21214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15461" y="1874520"/>
            <a:ext cx="1410789" cy="1078992"/>
          </a:xfrm>
          <a:prstGeom prst="roundRect">
            <a:avLst>
              <a:gd name="adj" fmla="val 4237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06901" y="1947672"/>
            <a:ext cx="122790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3681" y="21214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09129" y="1874520"/>
            <a:ext cx="1410789" cy="1078992"/>
          </a:xfrm>
          <a:prstGeom prst="roundRect">
            <a:avLst>
              <a:gd name="adj" fmla="val 4237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00569" y="1947672"/>
            <a:ext cx="122790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47350" y="21214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02798" y="1874520"/>
            <a:ext cx="1410789" cy="1078992"/>
          </a:xfrm>
          <a:prstGeom prst="roundRect">
            <a:avLst>
              <a:gd name="adj" fmla="val 4237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94238" y="1947672"/>
            <a:ext cx="122790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LOCAL_PET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1018" y="21214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6466" y="1874520"/>
            <a:ext cx="1410789" cy="1078992"/>
          </a:xfrm>
          <a:prstGeom prst="roundRect">
            <a:avLst>
              <a:gd name="adj" fmla="val 4237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87906" y="1947672"/>
            <a:ext cx="122790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PET_SHELTER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34687" y="21214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0135" y="1874520"/>
            <a:ext cx="1410789" cy="1078992"/>
          </a:xfrm>
          <a:prstGeom prst="roundRect">
            <a:avLst>
              <a:gd name="adj" fmla="val 4237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1575" y="1947672"/>
            <a:ext cx="122790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RESCUE_PET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028355" y="21214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83803" y="1874520"/>
            <a:ext cx="1410789" cy="1078992"/>
          </a:xfrm>
          <a:prstGeom prst="roundRect">
            <a:avLst>
              <a:gd name="adj" fmla="val 4237"/>
            </a:avLst>
          </a:prstGeom>
          <a:solidFill>
            <a:srgbClr val="0F6B5D"/>
          </a:solidFill>
          <a:ln w="10160">
            <a:solidFill>
              <a:srgbClr val="0F6B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75243" y="1947672"/>
            <a:ext cx="122790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LP###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" y="3520440"/>
            <a:ext cx="3337560" cy="1691640"/>
          </a:xfrm>
          <a:prstGeom prst="roundRect">
            <a:avLst>
              <a:gd name="adj" fmla="val 2703"/>
            </a:avLst>
          </a:prstGeom>
          <a:solidFill>
            <a:srgbClr val="F8DDD4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32688" y="3685032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Volunteer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" y="4142232"/>
            <a:ext cx="28986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Submits location, date and rescue details.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407408" y="3520440"/>
            <a:ext cx="3337560" cy="1691640"/>
          </a:xfrm>
          <a:prstGeom prst="roundRect">
            <a:avLst>
              <a:gd name="adj" fmla="val 2703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626864" y="3685032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Shelter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626864" y="4142232"/>
            <a:ext cx="28986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the pet and establishes its local-pet status.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8101584" y="3520440"/>
            <a:ext cx="3337560" cy="1691640"/>
          </a:xfrm>
          <a:prstGeom prst="roundRect">
            <a:avLst>
              <a:gd name="adj" fmla="val 2703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321040" y="3685032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142232"/>
            <a:ext cx="289864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linked rows and generates the final LP### identifier.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backend/src/controllers/rescueController.js | database/22_rescue_intake_workflow.sql | database/25_pet_adoption_audit_id_cleanup.sql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WORKFLOW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Adopter request to employee handover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Responsibility changes by role while status remains traceable.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96896" y="2834640"/>
            <a:ext cx="347472" cy="0"/>
          </a:xfrm>
          <a:prstGeom prst="line">
            <a:avLst/>
          </a:prstGeom>
          <a:noFill/>
          <a:ln w="25400">
            <a:solidFill>
              <a:srgbClr val="E86F5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58368" y="1783080"/>
            <a:ext cx="1938528" cy="2331720"/>
          </a:xfrm>
          <a:prstGeom prst="roundRect">
            <a:avLst>
              <a:gd name="adj" fmla="val 2358"/>
            </a:avLst>
          </a:prstGeom>
          <a:solidFill>
            <a:srgbClr val="FFFCF6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385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957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5292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application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22960" y="3593592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361188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4864608" y="2834640"/>
            <a:ext cx="347472" cy="0"/>
          </a:xfrm>
          <a:prstGeom prst="line">
            <a:avLst/>
          </a:prstGeom>
          <a:noFill/>
          <a:ln w="25400">
            <a:solidFill>
              <a:srgbClr val="E86F5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26080" y="1783080"/>
            <a:ext cx="1938528" cy="2331720"/>
          </a:xfrm>
          <a:prstGeom prst="roundRect">
            <a:avLst>
              <a:gd name="adj" fmla="val 2358"/>
            </a:avLst>
          </a:prstGeom>
          <a:solidFill>
            <a:srgbClr val="FFFCF6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90672" y="19385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090672" y="23957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90672" y="285292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AD###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090672" y="3593592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63824" y="361188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132320" y="2834640"/>
            <a:ext cx="347472" cy="0"/>
          </a:xfrm>
          <a:prstGeom prst="line">
            <a:avLst/>
          </a:prstGeom>
          <a:noFill/>
          <a:ln w="25400">
            <a:solidFill>
              <a:srgbClr val="E86F5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93792" y="1783080"/>
            <a:ext cx="1938528" cy="2331720"/>
          </a:xfrm>
          <a:prstGeom prst="roundRect">
            <a:avLst>
              <a:gd name="adj" fmla="val 2358"/>
            </a:avLst>
          </a:prstGeom>
          <a:solidFill>
            <a:srgbClr val="FFFCF6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58384" y="19385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358384" y="23957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58384" y="285292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+ assign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358384" y="3593592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31536" y="361188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9400032" y="2834640"/>
            <a:ext cx="347472" cy="0"/>
          </a:xfrm>
          <a:prstGeom prst="line">
            <a:avLst/>
          </a:prstGeom>
          <a:noFill/>
          <a:ln w="25400">
            <a:solidFill>
              <a:srgbClr val="E86F5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61504" y="1783080"/>
            <a:ext cx="1938528" cy="2331720"/>
          </a:xfrm>
          <a:prstGeom prst="roundRect">
            <a:avLst>
              <a:gd name="adj" fmla="val 2358"/>
            </a:avLst>
          </a:prstGeom>
          <a:solidFill>
            <a:srgbClr val="FFFCF6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26096" y="19385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626096" y="23957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26096" y="285292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handover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7626096" y="3593592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99248" y="361188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9729216" y="1783080"/>
            <a:ext cx="1938528" cy="2331720"/>
          </a:xfrm>
          <a:prstGeom prst="roundRect">
            <a:avLst>
              <a:gd name="adj" fmla="val 2358"/>
            </a:avLst>
          </a:prstGeom>
          <a:solidFill>
            <a:srgbClr val="0B2A25"/>
          </a:solidFill>
          <a:ln w="12700">
            <a:solidFill>
              <a:srgbClr val="0B2A2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93808" y="19385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93808" y="23957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893808" y="285292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changes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9893808" y="3593592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66960" y="361188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ADOPTED</a:t>
            </a:r>
            <a:endParaRPr lang="en-US" sz="83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48006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procedures control each transition; the trigger preserves the timeline.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PR_SUBMIT_ADOPTION | PR_REVIEW_ADOPTION | PR_MARK_ADOPTED | TRG_ADOPTION_STATUS_AUDIT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ADVANCED SQL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CTEs make workload ranking readable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Employee Adoption Case Summary is built in two named stages.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719072"/>
            <a:ext cx="4343400" cy="3474720"/>
          </a:xfrm>
          <a:prstGeom prst="roundRect">
            <a:avLst>
              <a:gd name="adj" fmla="val 1316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9264" y="1883664"/>
            <a:ext cx="3941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EMPLOYEE_CASES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2340864"/>
            <a:ext cx="390448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assigned adoption cases for each employee.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identity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case count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case count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49240" y="2971800"/>
            <a:ext cx="685800" cy="566928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1719072"/>
            <a:ext cx="4343400" cy="3474720"/>
          </a:xfrm>
          <a:prstGeom prst="roundRect">
            <a:avLst>
              <a:gd name="adj" fmla="val 1316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10528" y="1883664"/>
            <a:ext cx="3941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RANKED_CASES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10528" y="2340864"/>
            <a:ext cx="390448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employees by assigned workload.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 position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case totals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report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5440680"/>
            <a:ext cx="2697480" cy="310896"/>
          </a:xfrm>
          <a:prstGeom prst="roundRect">
            <a:avLst>
              <a:gd name="adj" fmla="val 1764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82312" y="5458968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PETCARE INSIGHTS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backend/src/queryCatalog.js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ADVANCED SQL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Eight subquery patterns, visible in the UI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PetCare Insights turns database concepts into functional reports.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2450592" cy="1481328"/>
          </a:xfrm>
          <a:prstGeom prst="roundRect">
            <a:avLst>
              <a:gd name="adj" fmla="val 3086"/>
            </a:avLst>
          </a:prstGeom>
          <a:solidFill>
            <a:srgbClr val="FFFCF6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82880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59689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ROW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456432" y="1664208"/>
            <a:ext cx="2450592" cy="1481328"/>
          </a:xfrm>
          <a:prstGeom prst="roundRect">
            <a:avLst>
              <a:gd name="adj" fmla="val 3086"/>
            </a:avLst>
          </a:prstGeom>
          <a:solidFill>
            <a:srgbClr val="FFFCF6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182880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259689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ROW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227064" y="1664208"/>
            <a:ext cx="2450592" cy="1481328"/>
          </a:xfrm>
          <a:prstGeom prst="roundRect">
            <a:avLst>
              <a:gd name="adj" fmla="val 3086"/>
            </a:avLst>
          </a:prstGeom>
          <a:solidFill>
            <a:srgbClr val="FFFCF6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91656" y="182880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259689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MATCH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8997696" y="1664208"/>
            <a:ext cx="2450592" cy="1481328"/>
          </a:xfrm>
          <a:prstGeom prst="roundRect">
            <a:avLst>
              <a:gd name="adj" fmla="val 3086"/>
            </a:avLst>
          </a:prstGeom>
          <a:solidFill>
            <a:srgbClr val="FFFCF6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62288" y="182880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9162288" y="259689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MATCH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85800" y="3538728"/>
            <a:ext cx="2450592" cy="1481328"/>
          </a:xfrm>
          <a:prstGeom prst="roundRect">
            <a:avLst>
              <a:gd name="adj" fmla="val 3086"/>
            </a:avLst>
          </a:prstGeom>
          <a:solidFill>
            <a:srgbClr val="0B2A25"/>
          </a:solidFill>
          <a:ln w="12700">
            <a:solidFill>
              <a:srgbClr val="0B2A2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" y="370332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9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" y="447141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 RELATED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456432" y="3538728"/>
            <a:ext cx="2450592" cy="1481328"/>
          </a:xfrm>
          <a:prstGeom prst="roundRect">
            <a:avLst>
              <a:gd name="adj" fmla="val 3086"/>
            </a:avLst>
          </a:prstGeom>
          <a:solidFill>
            <a:srgbClr val="0B2A25"/>
          </a:solidFill>
          <a:ln w="12700">
            <a:solidFill>
              <a:srgbClr val="0B2A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21024" y="370332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EXISTS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621024" y="447141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RELATED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227064" y="3538728"/>
            <a:ext cx="2450592" cy="1481328"/>
          </a:xfrm>
          <a:prstGeom prst="roundRect">
            <a:avLst>
              <a:gd name="adj" fmla="val 3086"/>
            </a:avLst>
          </a:prstGeom>
          <a:solidFill>
            <a:srgbClr val="0B2A25"/>
          </a:solidFill>
          <a:ln w="12700">
            <a:solidFill>
              <a:srgbClr val="0B2A2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91656" y="370332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91656" y="447141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ROW-AWARE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8997696" y="3538728"/>
            <a:ext cx="2450592" cy="1481328"/>
          </a:xfrm>
          <a:prstGeom prst="roundRect">
            <a:avLst>
              <a:gd name="adj" fmla="val 3086"/>
            </a:avLst>
          </a:prstGeom>
          <a:solidFill>
            <a:srgbClr val="0B2A25"/>
          </a:solidFill>
          <a:ln w="12700">
            <a:solidFill>
              <a:srgbClr val="0B2A2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62288" y="3703320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9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9162288" y="447141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FILTER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PetCare Insights  &gt;  backend/src/queryCatalog.js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ADVANCED SQL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create a stable contract for the frontend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joins are saved once and reused across operational pages.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627632"/>
            <a:ext cx="5193792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645920"/>
            <a:ext cx="5047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VW_PERSON_ROLES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6245352" y="1627632"/>
            <a:ext cx="5193792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18504" y="1645920"/>
            <a:ext cx="5047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6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VW_PET_DETAILS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713232" y="2322576"/>
            <a:ext cx="5193792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2340864"/>
            <a:ext cx="5047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VW_RESCUE_DETAILS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245352" y="2322576"/>
            <a:ext cx="5193792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18504" y="2340864"/>
            <a:ext cx="5047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6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VW_ADOPTION_APPLICATIONS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713232" y="3017520"/>
            <a:ext cx="5193792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035808"/>
            <a:ext cx="5047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VW_MEDICAL_DETAILS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6245352" y="3017520"/>
            <a:ext cx="5193792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18504" y="3035808"/>
            <a:ext cx="5047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6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VW_FINANCE_SUMMARY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713232" y="3712464"/>
            <a:ext cx="5193792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730752"/>
            <a:ext cx="5047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VW_SALARY_DETAILS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245352" y="3712464"/>
            <a:ext cx="5193792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18504" y="3730752"/>
            <a:ext cx="50474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B64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VW_DASHBOARD_STATS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1371600" y="4709160"/>
            <a:ext cx="2228850" cy="749808"/>
          </a:xfrm>
          <a:prstGeom prst="roundRect">
            <a:avLst>
              <a:gd name="adj" fmla="val 6098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63040" y="4782312"/>
            <a:ext cx="20459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3627882" y="495604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83330" y="4709160"/>
            <a:ext cx="2228850" cy="749808"/>
          </a:xfrm>
          <a:prstGeom prst="roundRect">
            <a:avLst>
              <a:gd name="adj" fmla="val 6098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74770" y="4782312"/>
            <a:ext cx="20459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VIEW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039612" y="495604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5060" y="4709160"/>
            <a:ext cx="2228850" cy="749808"/>
          </a:xfrm>
          <a:prstGeom prst="roundRect">
            <a:avLst>
              <a:gd name="adj" fmla="val 6098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86500" y="4782312"/>
            <a:ext cx="20459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8451342" y="495604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06790" y="4709160"/>
            <a:ext cx="2228850" cy="749808"/>
          </a:xfrm>
          <a:prstGeom prst="roundRect">
            <a:avLst>
              <a:gd name="adj" fmla="val 6098"/>
            </a:avLst>
          </a:prstGeom>
          <a:solidFill>
            <a:srgbClr val="0F6B5D"/>
          </a:solidFill>
          <a:ln w="10160">
            <a:solidFill>
              <a:srgbClr val="0F6B5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98230" y="4782312"/>
            <a:ext cx="20459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PAGE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database/03_views.sql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PL/SQL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Stored functions answer focused questions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PetCare Tools calls Oracle logic and returns simple values.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96696" y="1901952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FN_PERSON_AGE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2359152"/>
            <a:ext cx="4636008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 identifier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of birth to current age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Calculator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27648" y="1737360"/>
            <a:ext cx="5074920" cy="3429000"/>
          </a:xfrm>
          <a:prstGeom prst="roundRect">
            <a:avLst>
              <a:gd name="adj" fmla="val 1333"/>
            </a:avLst>
          </a:prstGeom>
          <a:solidFill>
            <a:srgbClr val="F8DDD4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47104" y="1901952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FN_AVAILABLE_PET_COUNT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47104" y="2359152"/>
            <a:ext cx="4636008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availability state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eligible local pets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 availability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database/06_plsql.sql  &gt;  backend/src/controllers/plsqlController.js  &gt;  Smart PetCare Tools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PL/SQL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Procedures keep business transitions atomic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owns multi-step operations that must either fully succeed or roll back.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664208"/>
            <a:ext cx="3383280" cy="1572768"/>
          </a:xfrm>
          <a:prstGeom prst="roundRect">
            <a:avLst>
              <a:gd name="adj" fmla="val 2907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5256" y="18288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PR_SUBMIT_ADOPTION</a:t>
            </a:r>
            <a:endParaRPr lang="en-US" sz="123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228600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application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89120" y="1664208"/>
            <a:ext cx="3383280" cy="1572768"/>
          </a:xfrm>
          <a:prstGeom prst="roundRect">
            <a:avLst>
              <a:gd name="adj" fmla="val 2907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08576" y="18288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PR_REVIEW_ADOPTION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4608576" y="228600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+ assign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8092440" y="1664208"/>
            <a:ext cx="3383280" cy="1572768"/>
          </a:xfrm>
          <a:prstGeom prst="roundRect">
            <a:avLst>
              <a:gd name="adj" fmla="val 2907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11896" y="18288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PR_MARK_ADOPTED</a:t>
            </a:r>
            <a:endParaRPr lang="en-US" sz="1230" dirty="0"/>
          </a:p>
        </p:txBody>
      </p:sp>
      <p:sp>
        <p:nvSpPr>
          <p:cNvPr id="13" name="Text 11"/>
          <p:cNvSpPr txBox="1"/>
          <p:nvPr/>
        </p:nvSpPr>
        <p:spPr>
          <a:xfrm>
            <a:off x="8311896" y="228600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handover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542032" y="3767328"/>
            <a:ext cx="3383280" cy="1572768"/>
          </a:xfrm>
          <a:prstGeom prst="roundRect">
            <a:avLst>
              <a:gd name="adj" fmla="val 2907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61488" y="393192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PR_CURSOR_PET_SUMMARY</a:t>
            </a:r>
            <a:endParaRPr lang="en-US" sz="1230" dirty="0"/>
          </a:p>
        </p:txBody>
      </p:sp>
      <p:sp>
        <p:nvSpPr>
          <p:cNvPr id="16" name="Text 14"/>
          <p:cNvSpPr txBox="1"/>
          <p:nvPr/>
        </p:nvSpPr>
        <p:spPr>
          <a:xfrm>
            <a:off x="2761488" y="438912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pets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6245352" y="3767328"/>
            <a:ext cx="3383280" cy="1572768"/>
          </a:xfrm>
          <a:prstGeom prst="roundRect">
            <a:avLst>
              <a:gd name="adj" fmla="val 2907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4808" y="393192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PR_FIND_PERSON</a:t>
            </a:r>
            <a:endParaRPr lang="en-US" sz="123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438912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Handled lookup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database/06_plsql.sql | database/25_pet_adoption_audit_id_cleanup.sql | database/26_employee_assignment_role_check_fix.sql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PL/SQL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explicit cursor processes pets row by row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PR_CURSOR_PET_SUMMARY demonstrates controlled fetch logic.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41248" y="1874520"/>
            <a:ext cx="1947672" cy="91440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47672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16352" y="21214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71800" y="1874520"/>
            <a:ext cx="1947672" cy="91440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63240" y="1947672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46904" y="21214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1874520"/>
            <a:ext cx="1947672" cy="91440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93792" y="1947672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77456" y="21214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32904" y="1874520"/>
            <a:ext cx="1947672" cy="914400"/>
          </a:xfrm>
          <a:prstGeom prst="roundRect">
            <a:avLst>
              <a:gd name="adj" fmla="val 500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24344" y="1947672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08008" y="2121408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63456" y="1874520"/>
            <a:ext cx="1947672" cy="914400"/>
          </a:xfrm>
          <a:prstGeom prst="roundRect">
            <a:avLst>
              <a:gd name="adj" fmla="val 5000"/>
            </a:avLst>
          </a:prstGeom>
          <a:solidFill>
            <a:srgbClr val="0F6B5D"/>
          </a:solidFill>
          <a:ln w="10160">
            <a:solidFill>
              <a:srgbClr val="0F6B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54896" y="1947672"/>
            <a:ext cx="176479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310128"/>
            <a:ext cx="3840480" cy="1600200"/>
          </a:xfrm>
          <a:prstGeom prst="roundRect">
            <a:avLst>
              <a:gd name="adj" fmla="val 285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03120" y="3584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PETS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4023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ROWS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510528" y="3310128"/>
            <a:ext cx="3840480" cy="1600200"/>
          </a:xfrm>
          <a:prstGeom prst="roundRect">
            <a:avLst>
              <a:gd name="adj" fmla="val 285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84848" y="3584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LOCAL PETS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784848" y="4023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ROWS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database/06_plsql.sql | backend/src/controllers/plsqlController.js | Smart PetCare Tools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RELIABILITY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 are handled at every boundary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Failures are translated into safe rollbacks and clear API responses.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1719072"/>
            <a:ext cx="3401568" cy="3611880"/>
          </a:xfrm>
          <a:prstGeom prst="roundRect">
            <a:avLst>
              <a:gd name="adj" fmla="val 1344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32688" y="188366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340864"/>
            <a:ext cx="2962656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NO_DATA_FOUND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TOO_MANY_ROWS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DUP_VAL_ON_INDEX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719072"/>
            <a:ext cx="3401568" cy="3611880"/>
          </a:xfrm>
          <a:prstGeom prst="roundRect">
            <a:avLst>
              <a:gd name="adj" fmla="val 1344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00016" y="188366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700016" y="2340864"/>
            <a:ext cx="2962656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operation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success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 failure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47888" y="1719072"/>
            <a:ext cx="3401568" cy="3611880"/>
          </a:xfrm>
          <a:prstGeom prst="roundRect">
            <a:avLst>
              <a:gd name="adj" fmla="val 1344"/>
            </a:avLst>
          </a:prstGeom>
          <a:solidFill>
            <a:srgbClr val="F8DDD4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467344" y="188366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467344" y="2340864"/>
            <a:ext cx="2962656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wrapper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error handler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API message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5468112"/>
            <a:ext cx="1977390" cy="420624"/>
          </a:xfrm>
          <a:prstGeom prst="roundRect">
            <a:avLst>
              <a:gd name="adj" fmla="val 1087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65960" y="5541264"/>
            <a:ext cx="1794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879342" y="5715000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34790" y="5468112"/>
            <a:ext cx="1977390" cy="420624"/>
          </a:xfrm>
          <a:prstGeom prst="roundRect">
            <a:avLst>
              <a:gd name="adj" fmla="val 1087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26230" y="5541264"/>
            <a:ext cx="1794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039612" y="5715000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5468112"/>
            <a:ext cx="1977390" cy="420624"/>
          </a:xfrm>
          <a:prstGeom prst="roundRect">
            <a:avLst>
              <a:gd name="adj" fmla="val 10870"/>
            </a:avLst>
          </a:prstGeom>
          <a:solidFill>
            <a:srgbClr val="FFFCF6"/>
          </a:solidFill>
          <a:ln w="10160">
            <a:solidFill>
              <a:srgbClr val="D8D2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86500" y="5541264"/>
            <a:ext cx="1794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8199882" y="5715000"/>
            <a:ext cx="128016" cy="25603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55330" y="5468112"/>
            <a:ext cx="1977390" cy="420624"/>
          </a:xfrm>
          <a:prstGeom prst="roundRect">
            <a:avLst>
              <a:gd name="adj" fmla="val 10870"/>
            </a:avLst>
          </a:prstGeom>
          <a:solidFill>
            <a:srgbClr val="0F6B5D"/>
          </a:solidFill>
          <a:ln w="10160">
            <a:solidFill>
              <a:srgbClr val="0F6B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46770" y="5541264"/>
            <a:ext cx="1794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database/06_plsql.sql | backend/src/utils.js | backend/src/db.js | backend/src/app.js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ORACLE OBJECTS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ADDRESS_TYPE packages a structured value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object type keeps address fields together while a view exposes them to PetCare Insights.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68680" y="1691640"/>
            <a:ext cx="4023360" cy="3840480"/>
          </a:xfrm>
          <a:prstGeom prst="roundRect">
            <a:avLst>
              <a:gd name="adj" fmla="val 1429"/>
            </a:avLst>
          </a:prstGeom>
          <a:solidFill>
            <a:srgbClr val="0B2A25"/>
          </a:solidFill>
          <a:ln w="12700">
            <a:solidFill>
              <a:srgbClr val="0B2A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9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ADDRESS_TYPE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417320" y="2834640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90472" y="2852928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HOUSE_NO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1417320" y="349300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90472" y="3511296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STREET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1417320" y="4151376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90472" y="4169664"/>
            <a:ext cx="2779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6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321808" y="3246120"/>
            <a:ext cx="804672" cy="621792"/>
          </a:xfrm>
          <a:prstGeom prst="chevron">
            <a:avLst/>
          </a:prstGeom>
          <a:solidFill>
            <a:srgbClr val="E86F51"/>
          </a:solidFill>
          <a:ln w="12700">
            <a:solidFill>
              <a:srgbClr val="E86F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10528" y="1691640"/>
            <a:ext cx="4754880" cy="1554480"/>
          </a:xfrm>
          <a:prstGeom prst="roundRect">
            <a:avLst>
              <a:gd name="adj" fmla="val 2941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29984" y="1856232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VW_PERSON_ADDRESS_OBJECT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729984" y="2313432"/>
            <a:ext cx="4315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reusable view returns person data with its structured address.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510528" y="3675888"/>
            <a:ext cx="4754880" cy="1856232"/>
          </a:xfrm>
          <a:prstGeom prst="roundRect">
            <a:avLst>
              <a:gd name="adj" fmla="val 2463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29984" y="3840480"/>
            <a:ext cx="4352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Address Directory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729984" y="4297680"/>
            <a:ext cx="43159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PetCare Insights renders the object fields as an application report.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database/07_abstract_datatype.sql | backend/src/queryCatalog.js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SECURITY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Defense in depth from login to query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permissions, inputs and sensitive output are protected independently.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3364992" cy="1609344"/>
          </a:xfrm>
          <a:prstGeom prst="roundRect">
            <a:avLst>
              <a:gd name="adj" fmla="val 2841"/>
            </a:avLst>
          </a:prstGeom>
          <a:solidFill>
            <a:srgbClr val="0B2A25"/>
          </a:solidFill>
          <a:ln w="12700">
            <a:solidFill>
              <a:srgbClr val="0B2A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7922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24942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67919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bcrypt hashing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462272" y="1627632"/>
            <a:ext cx="3364992" cy="1609344"/>
          </a:xfrm>
          <a:prstGeom prst="roundRect">
            <a:avLst>
              <a:gd name="adj" fmla="val 2841"/>
            </a:avLst>
          </a:prstGeom>
          <a:solidFill>
            <a:srgbClr val="0B2A25"/>
          </a:solidFill>
          <a:ln w="12700">
            <a:solidFill>
              <a:srgbClr val="0B2A2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7922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942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7919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authentication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93024" y="1627632"/>
            <a:ext cx="3364992" cy="1609344"/>
          </a:xfrm>
          <a:prstGeom prst="roundRect">
            <a:avLst>
              <a:gd name="adj" fmla="val 2841"/>
            </a:avLst>
          </a:prstGeom>
          <a:solidFill>
            <a:srgbClr val="0B2A25"/>
          </a:solidFill>
          <a:ln w="12700">
            <a:solidFill>
              <a:srgbClr val="0B2A2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94192" y="17922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24942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94192" y="2679192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authorization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31520" y="3621024"/>
            <a:ext cx="3364992" cy="1609344"/>
          </a:xfrm>
          <a:prstGeom prst="roundRect">
            <a:avLst>
              <a:gd name="adj" fmla="val 2841"/>
            </a:avLst>
          </a:prstGeom>
          <a:solidFill>
            <a:srgbClr val="FFFCF6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37856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424281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467258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bind variables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462272" y="3621024"/>
            <a:ext cx="3364992" cy="1609344"/>
          </a:xfrm>
          <a:prstGeom prst="roundRect">
            <a:avLst>
              <a:gd name="adj" fmla="val 2841"/>
            </a:avLst>
          </a:prstGeom>
          <a:solidFill>
            <a:srgbClr val="FFFCF6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37856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424281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467258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role checks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193024" y="3621024"/>
            <a:ext cx="3364992" cy="1609344"/>
          </a:xfrm>
          <a:prstGeom prst="roundRect">
            <a:avLst>
              <a:gd name="adj" fmla="val 2841"/>
            </a:avLst>
          </a:prstGeom>
          <a:solidFill>
            <a:srgbClr val="FFFCF6"/>
          </a:solidFill>
          <a:ln w="12700">
            <a:solidFill>
              <a:srgbClr val="D8D2C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94192" y="37856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4242816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94192" y="4672584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password hashes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566928" y="6053328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606247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middleware/auth.js | authController.js | financeController.js | backend/src/db.js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8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/ LIVE DEMO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669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twelve-step proof of the complete workflow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078992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broad, show database concepts, then complete rescue and adoption actions.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2468880" cy="4315968"/>
          </a:xfrm>
          <a:prstGeom prst="roundRect">
            <a:avLst>
              <a:gd name="adj" fmla="val 1852"/>
            </a:avLst>
          </a:prstGeom>
          <a:solidFill>
            <a:srgbClr val="E4F1EB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77824" y="181051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267712"/>
            <a:ext cx="202996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Login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Dashboard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People search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Pet search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3438144" y="1645920"/>
            <a:ext cx="2468880" cy="4315968"/>
          </a:xfrm>
          <a:prstGeom prst="roundRect">
            <a:avLst>
              <a:gd name="adj" fmla="val 1852"/>
            </a:avLst>
          </a:prstGeom>
          <a:solidFill>
            <a:srgbClr val="F7EAC7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7600" y="181051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267712"/>
            <a:ext cx="202996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Join / subquery / CTE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Function / cursor / exceptions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468880" cy="4315968"/>
          </a:xfrm>
          <a:prstGeom prst="roundRect">
            <a:avLst>
              <a:gd name="adj" fmla="val 1852"/>
            </a:avLst>
          </a:prstGeom>
          <a:solidFill>
            <a:srgbClr val="F8DDD4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37376" y="181051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RESCUE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2267712"/>
            <a:ext cx="202996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 Volunteer report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 Confirm LP###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997696" y="1645920"/>
            <a:ext cx="2468880" cy="4315968"/>
          </a:xfrm>
          <a:prstGeom prst="roundRect">
            <a:avLst>
              <a:gd name="adj" fmla="val 1852"/>
            </a:avLst>
          </a:prstGeom>
          <a:solidFill>
            <a:srgbClr val="E8E8F3"/>
          </a:solidFill>
          <a:ln w="10160">
            <a:solidFill>
              <a:srgbClr val="D8D2C5"/>
            </a:solidFill>
            <a:prstDash val="solid"/>
          </a:ln>
          <a:effectLst>
            <a:outerShdw sx="100000" sy="100000" kx="0" ky="0" algn="bl" rotWithShape="0" blurRad="12700" dist="50800" dir="2700000">
              <a:srgbClr val="B7AEA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17152" y="181051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935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2267712"/>
            <a:ext cx="2029968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 Adopter application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Confirm AD###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Supervisor approval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65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Confirm AU###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566928" y="6080760"/>
            <a:ext cx="11045952" cy="310896"/>
          </a:xfrm>
          <a:prstGeom prst="roundRect">
            <a:avLst>
              <a:gd name="adj" fmla="val 11765"/>
            </a:avLst>
          </a:prstGeom>
          <a:solidFill>
            <a:srgbClr val="EEE9DF"/>
          </a:solidFill>
          <a:ln w="12700">
            <a:solidFill>
              <a:srgbClr val="EEE9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6089904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5261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TIP: keep test credentials ready and reset demo data before presenting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28816"/>
            <a:ext cx="38404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B746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A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566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PETCARE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1188720"/>
            <a:ext cx="6583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system.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pet journey.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2852928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DE6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experiences, Express services and Oracle business logic work together from rescue through adoption.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9808" y="4160520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178808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2A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651760" y="4160520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24912" y="4178808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2A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4553712" y="4160520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4178808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2A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749808" y="4690872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F8DDD4"/>
          </a:solidFill>
          <a:ln w="12700">
            <a:solidFill>
              <a:srgbClr val="F8DDD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709160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2A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TRANSACTIONAL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651760" y="4690872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F7EAC7"/>
          </a:solidFill>
          <a:ln w="12700">
            <a:solidFill>
              <a:srgbClr val="F7EA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24912" y="4709160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2A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553712" y="4690872"/>
            <a:ext cx="1627632" cy="310896"/>
          </a:xfrm>
          <a:prstGeom prst="roundRect">
            <a:avLst>
              <a:gd name="adj" fmla="val 17647"/>
            </a:avLst>
          </a:prstGeom>
          <a:solidFill>
            <a:srgbClr val="E4F1EB"/>
          </a:solidFill>
          <a:ln w="12700">
            <a:solidFill>
              <a:srgbClr val="E4F1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26864" y="4709160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2A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DATABASE-DRIVEN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7726680" y="932688"/>
            <a:ext cx="3493008" cy="4800600"/>
          </a:xfrm>
          <a:prstGeom prst="roundRect">
            <a:avLst>
              <a:gd name="adj" fmla="val 2094"/>
            </a:avLst>
          </a:prstGeom>
          <a:solidFill>
            <a:srgbClr val="0F6B5D"/>
          </a:solidFill>
          <a:ln w="12700">
            <a:solidFill>
              <a:srgbClr val="0F6B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19872" y="1417320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148840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Express.js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A9D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119872" y="501091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61320" y="6199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9C3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PetCare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PetCare Management System</dc:title>
  <dc:subject>Oracle, Express.js, and React pet adoption management system</dc:subject>
  <dc:creator>PetCare Management System</dc:creator>
  <cp:lastModifiedBy>PetCare Management System</cp:lastModifiedBy>
  <cp:revision>1</cp:revision>
  <dcterms:created xsi:type="dcterms:W3CDTF">2026-09-15T16:18:11Z</dcterms:created>
  <dcterms:modified xsi:type="dcterms:W3CDTF">2026-09-15T16:18:11Z</dcterms:modified>
</cp:coreProperties>
</file>